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B6B7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5B6B78"/>
                </a:solidFill>
                <a:latin typeface="Arial"/>
              </a:rPr>
              <a:t>Boutiques Shopify actives par région (milliers)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Boutiques actives</c:v>
                </c:pt>
              </c:strCache>
            </c:strRef>
          </c:tx>
          <c:spPr>
            <a:solidFill>
              <a:srgbClr val="1FB8A0"/>
            </a:solidFill>
            <a:effectLst/>
          </c:spPr>
          <c:invertIfNegative val="0"/>
          <c:dLbls>
            <c:numFmt formatCode="#,##0&quot; 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1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B8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B3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B3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B3B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Amérique du Nord</c:v>
                  </c:pt>
                  <c:pt idx="1">
                    <c:v>Europe (EMEA)</c:v>
                  </c:pt>
                  <c:pt idx="2">
                    <c:v>APAC</c:v>
                  </c:pt>
                  <c:pt idx="3">
                    <c:v>LatAm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1210</c:v>
                </c:pt>
                <c:pt idx="1">
                  <c:v>987</c:v>
                </c:pt>
                <c:pt idx="2">
                  <c:v>509</c:v>
                </c:pt>
                <c:pt idx="3">
                  <c:v>159</c:v>
                </c:pt>
              </c:numCache>
            </c:numRef>
          </c:val>
        </c:ser>
        <c:dLbls>
          <c:numFmt formatCode="#,##0&quot; 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E1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1A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B6B7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5B6B78"/>
                </a:solidFill>
                <a:latin typeface="Arial"/>
              </a:rPr>
              <a:t>TAM par région et par scénario (M$)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</c:v>
                </c:pt>
              </c:strCache>
            </c:strRef>
          </c:tx>
          <c:spPr>
            <a:solidFill>
              <a:srgbClr val="D5DD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E1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Amérique du Nord</c:v>
                  </c:pt>
                  <c:pt idx="1">
                    <c:v>Europe (EMEA)</c:v>
                  </c:pt>
                  <c:pt idx="2">
                    <c:v>APAC</c:v>
                  </c:pt>
                  <c:pt idx="3">
                    <c:v>LatAm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</c:v>
                </c:pt>
                <c:pt idx="1">
                  <c:v>30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Central</c:v>
                </c:pt>
              </c:strCache>
            </c:strRef>
          </c:tx>
          <c:spPr>
            <a:solidFill>
              <a:srgbClr val="1FB8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E1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Amérique du Nord</c:v>
                  </c:pt>
                  <c:pt idx="1">
                    <c:v>Europe (EMEA)</c:v>
                  </c:pt>
                  <c:pt idx="2">
                    <c:v>APAC</c:v>
                  </c:pt>
                  <c:pt idx="3">
                    <c:v>LatAm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182</c:v>
                </c:pt>
                <c:pt idx="1">
                  <c:v>148</c:v>
                </c:pt>
                <c:pt idx="2">
                  <c:v>76</c:v>
                </c:pt>
                <c:pt idx="3">
                  <c:v>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Haut</c:v>
                </c:pt>
              </c:strCache>
            </c:strRef>
          </c:tx>
          <c:spPr>
            <a:solidFill>
              <a:srgbClr val="5B6B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E1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Amérique du Nord</c:v>
                  </c:pt>
                  <c:pt idx="1">
                    <c:v>Europe (EMEA)</c:v>
                  </c:pt>
                  <c:pt idx="2">
                    <c:v>APAC</c:v>
                  </c:pt>
                  <c:pt idx="3">
                    <c:v>LatAm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545</c:v>
                </c:pt>
                <c:pt idx="1">
                  <c:v>444</c:v>
                </c:pt>
                <c:pt idx="2">
                  <c:v>229</c:v>
                </c:pt>
                <c:pt idx="3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E1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1A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B6B7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5B6B78"/>
                </a:solidFill>
                <a:latin typeface="Arial"/>
              </a:rPr>
              <a:t>Marché mondial des logiciels d'A/B testing (Md$) vs bottom-up Solen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Md$</c:v>
                </c:pt>
              </c:strCache>
            </c:strRef>
          </c:tx>
          <c:spPr>
            <a:solidFill>
              <a:srgbClr val="1FB8A0"/>
            </a:solidFill>
            <a:effectLst/>
          </c:spPr>
          <c:invertIfNegative val="0"/>
          <c:dLbls>
            <c:numFmt formatCode="0.00&quot; Md$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1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B8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B3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B3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B3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5DDE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Bottom-up Solen (central)</c:v>
                  </c:pt>
                  <c:pt idx="1">
                    <c:v>Business Research Insights (2025)</c:v>
                  </c:pt>
                  <c:pt idx="2">
                    <c:v>Research and Markets (2025)</c:v>
                  </c:pt>
                  <c:pt idx="3">
                    <c:v>Spherical Insights (2025)</c:v>
                  </c:pt>
                  <c:pt idx="4">
                    <c:v>Credence Research (2024)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0.43</c:v>
                </c:pt>
                <c:pt idx="1">
                  <c:v>0.85</c:v>
                </c:pt>
                <c:pt idx="2">
                  <c:v>1.3</c:v>
                </c:pt>
                <c:pt idx="3">
                  <c:v>1.48</c:v>
                </c:pt>
                <c:pt idx="4">
                  <c:v>8.18</c:v>
                </c:pt>
              </c:numCache>
            </c:numRef>
          </c:val>
        </c:ser>
        <c:dLbls>
          <c:numFmt formatCode="0.00&quot; Md$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E1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1A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5B6B78"/>
                </a:solidFill>
                <a:latin typeface="Arial"/>
              </a:defRPr>
            </a:pPr>
            <a:r>
              <a:rPr sz="900" b="0" i="0" u="none" strike="noStrike">
                <a:solidFill>
                  <a:srgbClr val="5B6B78"/>
                </a:solidFill>
                <a:latin typeface="Arial"/>
              </a:rPr>
              <a:t>Boutiques gratuites nécessaires pour 200 clients, par taux de conversion gratuit → payant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Boutiques gratuites nécessaires</c:v>
                </c:pt>
              </c:strCache>
            </c:strRef>
          </c:tx>
          <c:spPr>
            <a:solidFill>
              <a:srgbClr val="D5DD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1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5DDE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B8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5DDE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5DDE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6B7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1 %</c:v>
                  </c:pt>
                  <c:pt idx="1">
                    <c:v>2 %</c:v>
                  </c:pt>
                  <c:pt idx="2">
                    <c:v>5 %</c:v>
                  </c:pt>
                  <c:pt idx="3">
                    <c:v>10 %</c:v>
                  </c:pt>
                  <c:pt idx="4">
                    <c:v>25 %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10000</c:v>
                </c:pt>
                <c:pt idx="2">
                  <c:v>4000</c:v>
                </c:pt>
                <c:pt idx="3">
                  <c:v>2000</c:v>
                </c:pt>
                <c:pt idx="4">
                  <c:v>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E1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1A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construit à partir de docs/SOLEN_CONTEXT.md et docs/GTM_STRATEGY.md. Niveau de preuve global : P0–P1 (desk research, aucune donnée client).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3657600" cy="3657600"/>
          </a:xfrm>
          <a:prstGeom prst="ellipse">
            <a:avLst/>
          </a:prstGeom>
          <a:solidFill>
            <a:srgbClr val="1FB8A0">
              <a:alpha val="15000"/>
            </a:srgbClr>
          </a:solidFill>
          <a:ln w="12700">
            <a:solidFill>
              <a:srgbClr val="1FB8A0">
                <a:alpha val="1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SOLEN · DOCUMENT DE TRAVAIL · SEPTEMBRE 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et go-to-market : où Solen doit jouer, et comment y entrer seul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Dimensionnement intercontinental, ICP par région, approche inspirée de Tally.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choix sont des hypothèses : aucune n'est encore validée sur le terrain.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marchands ont les données, pas le temps d'en tirer des tests : c'est l'espace de Solen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502920" cy="502920"/>
          </a:xfrm>
          <a:prstGeom prst="ellipse">
            <a:avLst/>
          </a:prstGeom>
          <a:solidFill>
            <a:srgbClr val="0E1A24"/>
          </a:solidFill>
          <a:ln w="12700">
            <a:solidFill>
              <a:srgbClr val="0E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234440"/>
            <a:ext cx="5989320" cy="713232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123444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2 865 709 boutiques Shopify actives (Store Leads, 2026). Les données de comportement existent déjà : GA4, Shopify Analytics, Hotjar.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502920" cy="502920"/>
          </a:xfrm>
          <a:prstGeom prst="ellipse">
            <a:avLst/>
          </a:prstGeom>
          <a:solidFill>
            <a:srgbClr val="0E1A24"/>
          </a:solidFill>
          <a:ln w="12700">
            <a:solidFill>
              <a:srgbClr val="0E1A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2057400"/>
            <a:ext cx="5989320" cy="713232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34640" y="205740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ces données en modifications testées demande du temps et une expertise que les petites équipes n'ont pas. C'est l'hypothèse centrale de Solen, pas encore validée.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90088"/>
            <a:ext cx="502920" cy="502920"/>
          </a:xfrm>
          <a:prstGeom prst="ellipse">
            <a:avLst/>
          </a:prstGeom>
          <a:solidFill>
            <a:srgbClr val="0E1A24"/>
          </a:solidFill>
          <a:ln w="12700">
            <a:solidFill>
              <a:srgbClr val="0E1A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2880360"/>
            <a:ext cx="5989320" cy="713232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4640" y="288036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marché est-il assez grand, qui attaquer d'abord, et comment l'atteindre seul, sans budget 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13048"/>
            <a:ext cx="502920" cy="502920"/>
          </a:xfrm>
          <a:prstGeom prst="ellipse">
            <a:avLst/>
          </a:prstGeom>
          <a:solidFill>
            <a:srgbClr val="1FB8A0"/>
          </a:solidFill>
          <a:ln w="12700">
            <a:solidFill>
              <a:srgbClr val="1FB8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794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97480" y="3703320"/>
            <a:ext cx="5989320" cy="713232"/>
          </a:xfrm>
          <a:prstGeom prst="rect">
            <a:avLst/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34640" y="370332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Oui en ordre de grandeur. L'Europe francophone d'abord. Build in public, audit gratuit et concierge plutôt qu'un modèle freemium viral.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Store Leads (juillet 2026) ; SOLEN_CONTEXT.md §4 (problème), §47 (questions ouvertes).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Commencer par l'Europe francophone, en concierge, sur un marché central estimé à ~430 M$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234440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marché justifie l'effort, pas encore une levée de fonds.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600200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central 430 M$ (86 M$ à 1,29 Md$) ; objectif à 3 ans ~0,5 M$ d'ARR. Deux hypothèses restent à vérifier.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8229600" cy="0"/>
          </a:xfrm>
          <a:prstGeom prst="line">
            <a:avLst/>
          </a:prstGeom>
          <a:noFill/>
          <a:ln w="9525">
            <a:solidFill>
              <a:srgbClr val="C9D3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103120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L'Europe francophone est la seule région où un fondateur seul peut apprendre vite.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468880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L'Amérique du Nord pèse ~42 % des boutiques, mais l'accès y est faible sans réseau ni budget.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8229600" cy="0"/>
          </a:xfrm>
          <a:prstGeom prst="line">
            <a:avLst/>
          </a:prstGeom>
          <a:noFill/>
          <a:ln w="9525">
            <a:solidFill>
              <a:srgbClr val="C9D3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2971800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Tally, garder le build in public et le contenu ; remplacer le badge viral par un audit gratuit plafonné et un concierge.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337560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2 % de conversion, 200 clients exigeraient 10 000 boutiques gratuites.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0E1A24"/>
          </a:solidFill>
          <a:ln w="12700">
            <a:solidFill>
              <a:srgbClr val="0E1A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8862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DEMANDÉE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3886200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jours sur la France, la Belgique et la Suisse romande, en concierge, à 0 € de budget. Mesurer H1 et H3 dès la semaine 1. Amérique du Nord seulement après au moins 2 clients payants.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Store Leads (juillet 2026) ; rapports A/B testing (2025) ; blog Tally. Détail, source et niveau de preuve sur chaque slide.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DU PROBLÈME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questions décident de la suite : taille du marché, cible de départ, mode d'accès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1737360" cy="1005840"/>
          </a:xfrm>
          <a:prstGeom prst="rect">
            <a:avLst/>
          </a:prstGeom>
          <a:solidFill>
            <a:srgbClr val="0E1A24"/>
          </a:solidFill>
          <a:ln w="12700">
            <a:solidFill>
              <a:srgbClr val="0E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Solen peut-il construire une activité rentable en optimisant des boutiques Shopify existantes 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2743200"/>
            <a:ext cx="320040" cy="0"/>
          </a:xfrm>
          <a:prstGeom prst="line">
            <a:avLst/>
          </a:prstGeom>
          <a:noFill/>
          <a:ln w="12700">
            <a:solidFill>
              <a:srgbClr val="C9D3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1645920"/>
            <a:ext cx="0" cy="1097280"/>
          </a:xfrm>
          <a:prstGeom prst="line">
            <a:avLst/>
          </a:prstGeom>
          <a:noFill/>
          <a:ln w="12700">
            <a:solidFill>
              <a:srgbClr val="C9D3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645920"/>
            <a:ext cx="182880" cy="0"/>
          </a:xfrm>
          <a:prstGeom prst="line">
            <a:avLst/>
          </a:prstGeom>
          <a:noFill/>
          <a:ln w="12700">
            <a:solidFill>
              <a:srgbClr val="C9D3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325880"/>
            <a:ext cx="2194560" cy="640080"/>
          </a:xfrm>
          <a:prstGeom prst="rect">
            <a:avLst/>
          </a:prstGeom>
          <a:solidFill>
            <a:srgbClr val="0E1A24"/>
          </a:solidFill>
          <a:ln w="12700">
            <a:solidFill>
              <a:srgbClr val="0E1A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1325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 marché est-il assez grand 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1645920"/>
            <a:ext cx="228600" cy="0"/>
          </a:xfrm>
          <a:prstGeom prst="line">
            <a:avLst/>
          </a:prstGeom>
          <a:noFill/>
          <a:ln w="12700">
            <a:solidFill>
              <a:srgbClr val="C9D3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1252728"/>
            <a:ext cx="3566160" cy="786384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1307592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Combien de boutiques ont assez de trafic ?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Combien dépensent-elles déjà en CRO, analytics et tests ?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top-down confirme-t-il l'ordre de grandeur ?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0574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94560" y="2743200"/>
            <a:ext cx="320040" cy="0"/>
          </a:xfrm>
          <a:prstGeom prst="line">
            <a:avLst/>
          </a:prstGeom>
          <a:noFill/>
          <a:ln w="12700">
            <a:solidFill>
              <a:srgbClr val="C9D3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2743200"/>
            <a:ext cx="0" cy="18288"/>
          </a:xfrm>
          <a:prstGeom prst="line">
            <a:avLst/>
          </a:prstGeom>
          <a:noFill/>
          <a:ln w="12700">
            <a:solidFill>
              <a:srgbClr val="C9D3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2761488"/>
            <a:ext cx="182880" cy="0"/>
          </a:xfrm>
          <a:prstGeom prst="line">
            <a:avLst/>
          </a:prstGeom>
          <a:noFill/>
          <a:ln w="12700">
            <a:solidFill>
              <a:srgbClr val="C9D3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97480" y="2441448"/>
            <a:ext cx="2194560" cy="640080"/>
          </a:xfrm>
          <a:prstGeom prst="rect">
            <a:avLst/>
          </a:prstGeom>
          <a:solidFill>
            <a:srgbClr val="0E1A24"/>
          </a:solidFill>
          <a:ln w="12700">
            <a:solidFill>
              <a:srgbClr val="0E1A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88920" y="24414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Qui attaquer d'abord 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761488"/>
            <a:ext cx="228600" cy="0"/>
          </a:xfrm>
          <a:prstGeom prst="line">
            <a:avLst/>
          </a:prstGeom>
          <a:noFill/>
          <a:ln w="12700">
            <a:solidFill>
              <a:srgbClr val="C9D3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2368296"/>
            <a:ext cx="3566160" cy="786384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12080" y="242316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ICP ressent le plus le problème ?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région combine taille, accès et coût du problème ?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quel ordre étendre ?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31729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194560" y="2743200"/>
            <a:ext cx="320040" cy="0"/>
          </a:xfrm>
          <a:prstGeom prst="line">
            <a:avLst/>
          </a:prstGeom>
          <a:noFill/>
          <a:ln w="12700">
            <a:solidFill>
              <a:srgbClr val="C9D3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2743200"/>
            <a:ext cx="0" cy="1133856"/>
          </a:xfrm>
          <a:prstGeom prst="line">
            <a:avLst/>
          </a:prstGeom>
          <a:noFill/>
          <a:ln w="12700">
            <a:solidFill>
              <a:srgbClr val="C9D3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3877056"/>
            <a:ext cx="182880" cy="0"/>
          </a:xfrm>
          <a:prstGeom prst="line">
            <a:avLst/>
          </a:prstGeom>
          <a:noFill/>
          <a:ln w="12700">
            <a:solidFill>
              <a:srgbClr val="C9D3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7480" y="3557016"/>
            <a:ext cx="2194560" cy="640080"/>
          </a:xfrm>
          <a:prstGeom prst="rect">
            <a:avLst/>
          </a:prstGeom>
          <a:solidFill>
            <a:srgbClr val="0E1A24"/>
          </a:solidFill>
          <a:ln w="12700">
            <a:solidFill>
              <a:srgbClr val="0E1A2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88920" y="35570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Comment l'atteindre seul et sans budget 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877056"/>
            <a:ext cx="228600" cy="0"/>
          </a:xfrm>
          <a:prstGeom prst="line">
            <a:avLst/>
          </a:prstGeom>
          <a:noFill/>
          <a:ln w="12700">
            <a:solidFill>
              <a:srgbClr val="C9D3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3483864"/>
            <a:ext cx="3566160" cy="786384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12080" y="35387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Quels leviers de Tally se transposent ?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Lesquels ne se transposent pas, et quoi à la place ?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Quels risques et hypothèses tester d'abord ?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428853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Arbre MECE construit à partir des questions ouvertes de SOLEN_CONTEXT.md §47 (marché, ICP, GTM). Les trois branches structurent les trois parties du document.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3657600" cy="3657600"/>
          </a:xfrm>
          <a:prstGeom prst="ellipse">
            <a:avLst/>
          </a:prstGeom>
          <a:solidFill>
            <a:srgbClr val="1FB8A0">
              <a:alpha val="15000"/>
            </a:srgbClr>
          </a:solidFill>
          <a:ln w="12700">
            <a:solidFill>
              <a:srgbClr val="1FB8A0">
                <a:alpha val="1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 · MARCHÉ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marché réel mais modeste, dont la taille dépend de deux hypothèses non vérifiées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par région, contrôle top-down, trois scénarios.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chiffre porte sa source ; chaque hypothèse est affichée comme telle.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· BOUTIQUES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L'Amérique du Nord concentre ~42 % des boutiques Shopify actives, l'Europe environ un tiers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3444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234440"/>
            <a:ext cx="3017520" cy="3291840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Comptages pays sourcés (Store Leads, T2 2026)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645920"/>
          <a:ext cx="2743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Boutiques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États-Unis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1 088 283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Royaume-Uni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197 736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121 955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Australie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119 745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114 995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France, Allemagne, Brésil…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54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à vérifier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806440" y="3657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 Amérique du Nord, la répartition applique le split 31 / 16 / 5 (EMEA / APAC / LatAm) au reliquat. « Europe » inclut donc le Moyen-Orient et l'Afrique.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Store Leads, 03/07/2026 (via storeinspect.com / ecomm.design) pour le total et les pays ; répartition régionale 44/31/16/5/5 attribuée au 10-K Shopify FY2025 par 3plinsider.com : source secondaire, à vérifier (possible confusion avec le chiffre d'affaires par zone).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· HYPOTHÈSES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hypothèses non vérifiées font varier le TAM d'un facteur 15 : les mesurer d'abord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= boutiques × part &gt; 10k visiteurs × dépense annuelle  →  </a:t>
            </a:r>
            <a:pPr indent="0" marL="0">
              <a:buNone/>
            </a:pPr>
            <a:r>
              <a:rPr lang="en-US" sz="95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M$  ·  430 M$  ·  1,29 Md$</a:t>
            </a:r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(bas · central · haut)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868680"/>
                <a:gridCol w="868680"/>
                <a:gridCol w="868680"/>
                <a:gridCol w="1051560"/>
                <a:gridCol w="26517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Paramètre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 la vérifier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Boutiques Shopify actives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2 865 709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2 865 709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2 865 709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0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Sourcé (2026)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Leads, mise à jour trimestrielle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&gt; 10k visiteurs/mois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54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À vérifier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Aucune source publique : échantillon de 500 boutiques (Store Leads / Similarweb)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Dépense annuelle CRO + analytics + tests / boutique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1 500 $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3 000 $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54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À vérifier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Aucun chiffre de marché : interviews (§23), grilles Hotjar / VWO / AB Tasty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Régions servies (SAM)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+ Europe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+ Europe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+ Europe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B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Choix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Langues maîtrisées, fuseaux, Shopify dominant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Clients payants à 3 ans (SOM)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54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Hypothèse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Entonnoir des 90 jours (GTM_STRATEGY §5)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Prix annuel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2 400 $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2 400 $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2 400 $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A54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Hypothèse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tarif pilote 190 €/mois ; taux de change à vérifier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224528"/>
            <a:ext cx="8229600" cy="237744"/>
          </a:xfrm>
          <a:prstGeom prst="roundRect">
            <a:avLst>
              <a:gd name="adj" fmla="val 19231"/>
            </a:avLst>
          </a:prstGeom>
          <a:solidFill>
            <a:srgbClr val="FBF1DF"/>
          </a:solidFill>
          <a:ln w="9525">
            <a:solidFill>
              <a:srgbClr val="E0A03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" y="4224528"/>
            <a:ext cx="8083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dépense par boutique dans toutes les régions : simplification. Les dépenses sont probablement plus élevées en Amérique du Nord (non démontré).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Store Leads, 03/07/2026 (2 865 709 boutiques live ; les comptages de 6–9 M incluent essais et boutiques parquées) ; SOLEN_CONTEXT.md §12 (seuil de 10k = seuil de travail, non statistique), §23 ; GTM_STRATEGY.md §4.4.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· TAM / SAM / SOM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central ~430 M$, SOM à 3 ans ~0,5 M$ d'ARR : un marché rentable, pas encore « VC »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731520"/>
          </a:xfrm>
          <a:prstGeom prst="rect">
            <a:avLst/>
          </a:prstGeom>
          <a:solidFill>
            <a:srgbClr val="0E1A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399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 M$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Boutiques &gt; 10k visiteurs, monde, dépense actuelle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683055" cy="731520"/>
          </a:xfrm>
          <a:prstGeom prst="rect">
            <a:avLst/>
          </a:prstGeom>
          <a:solidFill>
            <a:srgbClr val="1280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277415" y="24048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 M$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77415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Amérique du Nord + Europe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320040" cy="731520"/>
          </a:xfrm>
          <a:prstGeom prst="rect">
            <a:avLst/>
          </a:prstGeom>
          <a:solidFill>
            <a:srgbClr val="1FB8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(3 ans)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410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 k$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clients × 2 400 $/an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32588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  <a:gridCol w="731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 M$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 M$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1,29 Md$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 M$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 M$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989 M$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 (ARR à 3 ans)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k$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 k$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1,44 M$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 / boutiques SAM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0,05 %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0,09 %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0,18 %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394960" y="3154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: même en haut de fourchette, le SOM reste inférieur à 0,2 % des boutiques adressables. Le plafond ne vient pas du marché mais de la capacité de vente d'un fondateur seul.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394960" y="4114800"/>
            <a:ext cx="3291840" cy="237744"/>
          </a:xfrm>
          <a:prstGeom prst="roundRect">
            <a:avLst>
              <a:gd name="adj" fmla="val 19231"/>
            </a:avLst>
          </a:prstGeom>
          <a:solidFill>
            <a:srgbClr val="FBF1DF"/>
          </a:solidFill>
          <a:ln w="9525">
            <a:solidFill>
              <a:srgbClr val="E0A03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68112" y="4114800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&gt; 10k, dépense, clients et prix : hypothèses à vérifier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: boutiques (Store Leads, 2026) × part &gt; 10k visiteurs × dépense annuelle (hypothèses, slide 7). SAM = Amérique du Nord + Europe (EMEA). Surfaces de gauche proportionnelles à la valeur (échelle racine carrée pour la lisibilité).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· RÉGIONS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L'Amérique du Nord et l'Europe pèsent ~77 % du TAM ; l'APAC et la LatAm attendront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34440"/>
          <a:ext cx="56692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234440"/>
            <a:ext cx="2286000" cy="3337560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3796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057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TAM en Amérique du Nord + Europe (mêmes hypothèses dans toutes les régions)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78892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dépense par boutique est plus forte en Amérique du Nord (probable, non démontré), cette part augmente. En LatAm, Shopify est concurrencé par des plateformes locales (Tiendanube / Nuvemshop, VTEX) : part de marché à vérifier.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: boutiques par région (slide 6) × hypothèses de part &gt; 10k et de dépense (slide 7). Répartition hors Amérique du Nord : source secondaire, à vérifier.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· CONTRÔLE TOP-DOWN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top-down confirme l'ordre de grandeur, mais les estimations varient de 1 à 10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3444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: fourchette 86 M$ à 1,29 Md$, Shopify seul. Credence (8,18 Md$) : outlier, périmètre à vérifier.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52160" y="1234440"/>
            <a:ext cx="2834640" cy="3246120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1325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les deux approches ne se comparent pas terme à terme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1828800"/>
            <a:ext cx="2606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top-down couvre toutes les plateformes et tous les segments, surtout les grands comptes ; le bottom-up ne couvre que Shopify.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bottom-up inclut l'analytics comportemental (type Hotjar), exclu du top-down A/B testing.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L'estimation Credence (8,18 Md$) est un outlier : périmètre probablement plus large, à vérifier.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rapport « CRO software » consolidé n'a pu être sourcé : à vérifier.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Business Research Insights (0,85 Md$, 2025) ; Research and Markets (1,30 Md$, 2025 ; 2,73 Md$ en 2032, TCAC 11,2 %) ; Spherical Insights (1,48 Md$, 2025 ; 4,26 Md$ en 2035) ; Credence Research (8,18 Md$, 2024). Chiffres relevés via les pages de présentation des rapports, non achetés.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3657600" cy="3657600"/>
          </a:xfrm>
          <a:prstGeom prst="ellipse">
            <a:avLst/>
          </a:prstGeom>
          <a:solidFill>
            <a:srgbClr val="1FB8A0">
              <a:alpha val="15000"/>
            </a:srgbClr>
          </a:solidFill>
          <a:ln w="12700">
            <a:solidFill>
              <a:srgbClr val="1FB8A0">
                <a:alpha val="1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 · CIBLE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même ICP partout ; l'Europe francophone d'abord, pour apprendre vite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profil de boutique qui souffre du problème est comparable d'une région à l'autre.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change, c'est la capacité d'un fondateur seul à l'atteindre et à apprendre vite.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· ICP PAR RÉGION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ICP partout ; l'Europe francophone est la seule région accessible dès maintenant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83080"/>
                <a:gridCol w="178308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Amérique du Nord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(FR d'abord)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 (Australie)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Marque DTC Shopify, 20k–150k visiteurs, paie Meta / Google Ads, pas de CRO interne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Idem ; décideur = fondateur ou 1er responsable e-commerce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Idem, marques anglophones (AU / NZ)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Idem, Brésil / Mexique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Taille (TAM central)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 M$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 M$ (EMEA)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 M$ (APAC total)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M$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Accessibilité pour le fondateur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Moyenne : anglais, fuseau décalé, marché saturé de sollicitations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Forte : langue, réseau SKEMA, communautés FR, même fuseau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Faible : fuseau opposé, pas de réseau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Faible : langue (PT / ES), pas de réseau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Coût actuel du problème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Élevé : coût du trafic, agences chères (à vérifier)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Moyen : budgets plus bas, agences moins chères (à vérifier)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Moyen–élevé (à vérifier)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Bas–moyen (à vérifier)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Concurrence perçue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Très forte (apps Shopify CRO, Hotjar, VWO, Amboras)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Forte mais peu d'offres en français (à vérifier)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Plateformes locales dominantes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Frein spécifique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 de confiance, références exigées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RGPD / consentement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en décalé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Shopify minoritaire (à vérifier)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TAM central (slides 6–9) ; accessibilité et coût : hypothèses fondateur (P0), à confronter aux interviews. « Europe » = EMEA dans le calcul de taille.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· PRIORISATION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L'Europe francophone l'emporte sur l'accès et la vitesse d'apprentissage, pas sur la taille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"/>
                <a:gridCol w="640080"/>
                <a:gridCol w="822960"/>
                <a:gridCol w="1005840"/>
                <a:gridCol w="731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Région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Accès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Coût du problème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Vitesse d'apprentissage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/ 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Amérique du Nord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francophone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F0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 (Australie)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7490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L'Amérique du Nord gagne sur la taille et le coût du problème (10 points contre 6), mais perd sur l'accès et la vitesse d'apprentissage : ce sont les deux critères qui comptent pour un fondateur seul pendant 90 jours.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035040" y="1234440"/>
            <a:ext cx="2651760" cy="3291840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722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proposée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02920" cy="502920"/>
          </a:xfrm>
          <a:prstGeom prst="ellipse">
            <a:avLst/>
          </a:prstGeom>
          <a:solidFill>
            <a:srgbClr val="1FB8A0"/>
          </a:solidFill>
          <a:ln w="12700">
            <a:solidFill>
              <a:srgbClr val="1FB8A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1673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J0–90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18928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France, Belgique, Suisse romande. Concierge, 5–8 pilotes.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72200" y="2560320"/>
            <a:ext cx="502920" cy="502920"/>
          </a:xfrm>
          <a:prstGeom prst="ellipse">
            <a:avLst/>
          </a:prstGeom>
          <a:solidFill>
            <a:srgbClr val="1FB8A0"/>
          </a:solidFill>
          <a:ln w="12700">
            <a:solidFill>
              <a:srgbClr val="1FB8A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722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2542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M4–9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27614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Royaume-Uni + marques FR qui vendent aux US : premier test en anglais.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72200" y="3429000"/>
            <a:ext cx="502920" cy="502920"/>
          </a:xfrm>
          <a:prstGeom prst="ellipse">
            <a:avLst/>
          </a:prstGeom>
          <a:solidFill>
            <a:srgbClr val="1FB8A0"/>
          </a:solidFill>
          <a:ln w="12700">
            <a:solidFill>
              <a:srgbClr val="1FB8A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722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M9+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766560" y="36301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Amérique du Nord si ≥ 2 clients payants et message validé ; APAC (AU) ensuite.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: jugement du fondateur, sans données terrain (P0). Taille : TAM central (slide 9). À re-noter après les 15 interviews de la phase 1 (GTM_STRATEGY §5).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3657600" cy="3657600"/>
          </a:xfrm>
          <a:prstGeom prst="ellipse">
            <a:avLst/>
          </a:prstGeom>
          <a:solidFill>
            <a:srgbClr val="1FB8A0">
              <a:alpha val="15000"/>
            </a:srgbClr>
          </a:solidFill>
          <a:ln w="12700">
            <a:solidFill>
              <a:srgbClr val="1FB8A0">
                <a:alpha val="1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 · APPROCHE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Emprunter à Tally le build in public et le contenu, pas le modèle viral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: outil de formulaires, bootstrappé, porté par une offre gratuite généreuse et une boucle virale.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Solen : outil B2B à valeur différée, avec un coût marginal par client.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· LE CAS TALLY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a atteint plusieurs M$ d'ARR sans lever de fonds, porté par un badge viral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20240" cy="1097280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M$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9019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revendiqué, sept.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42032" y="1280160"/>
            <a:ext cx="1920240" cy="1097280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 M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9019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 revendiqués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1280160"/>
            <a:ext cx="1920240" cy="1097280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36592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19019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utilisateurs passent à Pro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11696" y="1280160"/>
            <a:ext cx="1920240" cy="1097280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21424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821424" y="19019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personnes (4 à temps plein)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0E1A24"/>
          </a:solidFill>
          <a:ln w="12700">
            <a:solidFill>
              <a:srgbClr val="0E1A2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560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 gratuite généreuse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28346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Formulaires et réponses illimités gratuits ; la monétisation vient des fonctions avancées.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606040"/>
            <a:ext cx="365760" cy="365760"/>
          </a:xfrm>
          <a:prstGeom prst="ellipse">
            <a:avLst/>
          </a:prstGeom>
          <a:solidFill>
            <a:srgbClr val="0E1A24"/>
          </a:solidFill>
          <a:ln w="12700">
            <a:solidFill>
              <a:srgbClr val="0E1A2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1772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560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Boucle virale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28346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« Made with Tally » vu par chaque répondant : décrit comme la principale boucle de croissance.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0E1A24"/>
          </a:solidFill>
          <a:ln w="12700">
            <a:solidFill>
              <a:srgbClr val="0E1A2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3520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 public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37947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Chiffres et coulisses partagés sur X, Reddit et Indie Hackers dès le début.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3566160"/>
            <a:ext cx="365760" cy="365760"/>
          </a:xfrm>
          <a:prstGeom prst="ellipse">
            <a:avLst/>
          </a:prstGeom>
          <a:solidFill>
            <a:srgbClr val="0E1A24"/>
          </a:solidFill>
          <a:ln w="12700">
            <a:solidFill>
              <a:srgbClr val="0E1A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177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120640" y="3520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de marque et IA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37947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bouche-à-oreille nourrit les recherches « Tally forms » ; ChatGPT cité comme 1re source de référence en 2026.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blog.tally.so (« From 2 to $3M ARR », « How we grew Tally to $4M ARR, fully bootstrapped ») ; okara.ai (6 M$ ARR, 2,5 M utilisateurs, sept. 2026) ; profitablefounder.xyz (5 M$ ARR 2025, ~2 % de conversion). Chiffres autodéclarés, repris en partie de sources secondaires : à vérifier dans les billets primaires.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· TRANSPOSITION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six leviers Tally, deux se transposent, deux s'adaptent, et le cœur viral ne passe pas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251460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Levier Tally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Pourquoi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 Solen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in public sur 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transpose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0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Fondateur seul, récit authentique, coût nul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Chiffres des pilotes, erreurs, décisions : X en anglais, LinkedIn en français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Contenu qui capte la recherche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transpose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0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 marchands cherchent « pourquoi ma boutique ne convertit pas 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Autopsies publiques de boutiques, guides par friction, lisibles par Google et les 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Offre gratuite généreuse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À adapter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9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Coût marginal non nul (tracking, LLM, relecture concierge)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de friction gratuit plafonné (1 boutique, 1 rapport), puis pilote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Recherche sur le nom de marque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À adapter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9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Conséquence du bouche-à-oreille, pas un levier de départ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Indicateur à suivre (volume de recherche « Solen ») ; homonymes à vérifier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Badge viral visible des utilisateurs finaux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se transpose pas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L'optimisation est invisible pour l'acheteur ; pas de badge possible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Rapport partageable (associé, agence) : boucle faible, à tester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Self-serve instantané, 2 % de conversion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se transpose pas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Valeur après plusieurs semaines ; base potentielle ~100× plus petite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Concierge d'abord ; Shopify App Store après preuve de valeur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: adaptation des leviers Tally (slide 15) aux contraintes de Solen (SOLEN_CONTEXT §6, §10, §42 ; GTM_STRATEGY §3–4). Verdicts = hypothèses P0.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· ÉCONOMIE DU GRATUIT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taux Tally (~2 %), 200 clients exigent 10 000 boutiques gratuites, ~5 % du SAM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34440"/>
          <a:ext cx="51206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234440"/>
            <a:ext cx="2834640" cy="3246120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169164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central : ~220 k boutiques. Tally vise des millions d'utilisateurs ; Solen, des dizaines de milliers.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boutique gratuite a un coût (LLM, stockage, relecture) : la gratuité doit sélectionner, pas maximiser le volume.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modèle viable ressemble à un entonnoir de vente assistée avec une conversion de 20–30 % des pilotes (hypothèse, barre gris foncé).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: 200 clients (SOM central, slide 8) ÷ taux de conversion. ~2 % : taux Tally revendiqué (profitablefounder.xyz, à vérifier). 25 % : hypothèse de conversion pilote → payant (GTM_STRATEGY §4).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· MODÈLE RETENU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contenu public attire, un audit gratuit qualifie, le concierge convertit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508760" cy="2011680"/>
          </a:xfrm>
          <a:prstGeom prst="roundRect">
            <a:avLst>
              <a:gd name="adj" fmla="val 484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384048" cy="384048"/>
          </a:xfrm>
          <a:prstGeom prst="ellipse">
            <a:avLst/>
          </a:prstGeom>
          <a:solidFill>
            <a:srgbClr val="1FB8A0"/>
          </a:solidFill>
          <a:ln w="12700">
            <a:solidFill>
              <a:srgbClr val="1FB8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9385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 public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395728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(EN) + LinkedIn (FR) : 3 posts / semaine, chiffres et erreurs réels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947672" y="2148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30552" y="1371600"/>
            <a:ext cx="1508760" cy="2011680"/>
          </a:xfrm>
          <a:prstGeom prst="roundRect">
            <a:avLst>
              <a:gd name="adj" fmla="val 484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0280" y="1481328"/>
            <a:ext cx="384048" cy="384048"/>
          </a:xfrm>
          <a:prstGeom prst="ellipse">
            <a:avLst/>
          </a:prstGeom>
          <a:solidFill>
            <a:srgbClr val="1FB8A0"/>
          </a:solidFill>
          <a:ln w="12700">
            <a:solidFill>
              <a:srgbClr val="1FB8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402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19385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Autopsies publiques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2395728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boutique / semaine analysée publiquement, avec son accord ou sur des éléments visibles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621024" y="2148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803904" y="1371600"/>
            <a:ext cx="1508760" cy="2011680"/>
          </a:xfrm>
          <a:prstGeom prst="roundRect">
            <a:avLst>
              <a:gd name="adj" fmla="val 484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13632" y="1481328"/>
            <a:ext cx="384048" cy="384048"/>
          </a:xfrm>
          <a:prstGeom prst="ellipse">
            <a:avLst/>
          </a:prstGeom>
          <a:solidFill>
            <a:srgbClr val="1FB8A0"/>
          </a:solidFill>
          <a:ln w="12700">
            <a:solidFill>
              <a:srgbClr val="1FB8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136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13632" y="19385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gratuit plafonné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913632" y="2395728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rapport de 3 frictions, sans installation, puis avec script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294376" y="2148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77256" y="1371600"/>
            <a:ext cx="1508760" cy="2011680"/>
          </a:xfrm>
          <a:prstGeom prst="roundRect">
            <a:avLst>
              <a:gd name="adj" fmla="val 484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86984" y="1481328"/>
            <a:ext cx="384048" cy="384048"/>
          </a:xfrm>
          <a:prstGeom prst="ellipse">
            <a:avLst/>
          </a:prstGeom>
          <a:solidFill>
            <a:srgbClr val="1FB8A0"/>
          </a:solidFill>
          <a:ln w="12700">
            <a:solidFill>
              <a:srgbClr val="1FB8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86984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586984" y="19385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 4 semaines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586984" y="2395728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Concierge : 0 € puis 149 € ; rapport hebdo + appel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967728" y="2148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150608" y="1371600"/>
            <a:ext cx="1508760" cy="2011680"/>
          </a:xfrm>
          <a:prstGeom prst="roundRect">
            <a:avLst>
              <a:gd name="adj" fmla="val 4848"/>
            </a:avLst>
          </a:prstGeom>
          <a:solidFill>
            <a:srgbClr val="0E1A24"/>
          </a:solidFill>
          <a:ln w="12700">
            <a:solidFill>
              <a:srgbClr val="0E1A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0336" y="1481328"/>
            <a:ext cx="384048" cy="384048"/>
          </a:xfrm>
          <a:prstGeom prst="ellipse">
            <a:avLst/>
          </a:prstGeom>
          <a:solidFill>
            <a:srgbClr val="1FB8A0"/>
          </a:solidFill>
          <a:ln w="12700">
            <a:solidFill>
              <a:srgbClr val="1FB8A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60336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260336" y="19385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Abonnement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260336" y="2395728"/>
            <a:ext cx="1298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8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~190 €/mois (hypothèse) ; cas anonymisé → nouveau contenu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611880"/>
            <a:ext cx="8229600" cy="868680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Boucle de retour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3931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pilote produit une autopsie publiable (anonymisée) et des données réelles pour le build in public. C'est la version Solen de la boucle Tally : plus lente, non virale, mais cumulative. Hypothèse à tester : une autopsie publiée génère ≥ 1 demande d'audit entrante.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GTM_STRATEGY.md §3–4 (canaux, offre de pilote, prix) ; adaptation des leviers Tally (slide 16). Prix et taux : hypothèses.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· 90 JOURS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90 premiers jours visent trois preuves : douleur, installation, premier paiement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3200400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1–4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&amp; cible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148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Succès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interviews, 3 messages testés, ≥ 3 pilotes acceptés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46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85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de changement de cap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474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30 % d'histoires concrètes → changer de segment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606040" cy="3200400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1371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5–8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réelle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148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Succès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Pilotes installés &lt; 1 semaine ; ≥ 1 reco / 3 jugée nouvelle ; 1er pilote payant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246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85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de changement de cap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474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reco appliquée → la valeur est dans l'exécution (V2), creuser sans construire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1280160"/>
            <a:ext cx="2606040" cy="3200400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1371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9–13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2148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Succès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 clients payants ; ≤ 2 h / client / semaine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3246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85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de changement de cap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3474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client payant → retour en SEEK, pas de V2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: GTM_STRATEGY.md §5 (plan semaine par semaine). Attention : Black Friday (27/11/2026) tombe en semaine 9 ; lancer tous les pilotes avant mi-novembre.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risque n°1 est l'absence de preuve : deux des cinq risques touchent la taille du marché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920240"/>
                <a:gridCol w="1737360"/>
                <a:gridCol w="210312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Risque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 précoce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Moins de 5 % des boutiques dépassent 10k visiteurs/mois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 divisé par 2 ou plus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Échantillon Store Leads / Similarweb de 500 boutiques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Mesurer en semaine 1, avant tout investissement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Dépense outils réelle &lt; 600 $/an (Hotjar gratuit, GA4)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 de budget à capter ; Solen crée une nouvelle ligne de dépense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Interviews : « combien dépensez-vous aujourd'hui ? 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Ancrer la valeur sur le coût du trafic et de l'agence, pas des outils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Recommandations V1 génériques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Aucune différenciation face à Hotjar ou un blog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50 % de chaque rapport réécrit ; « je le savais déjà 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Journal des corrections du concierge = spécification produit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in public sans audience marchande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Temps perdu ; audience d'indie hackers, pas de clients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demande entrante après 6 semaines de posts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Plafonner à 3 h / semaine ; privilégier LinkedIn FR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Concurrence mieux financée (apps CRO Shopify, Amboras)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Prix tirés vers le bas, message noyé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Prospects qui citent une app concurrente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Rester sur « l'existant d'abord » et la preuve par le test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SOLEN_CONTEXT.md §40 ; GTM_STRATEGY.md §6 ; hypothèses des slides 7 et 16.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 À VALIDER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029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  ·   </a:t>
            </a:r>
            <a:pPr algn="r" indent="0" marL="0">
              <a:buNone/>
            </a:pPr>
            <a:r>
              <a:rPr lang="en-US" sz="800" dirty="0">
                <a:solidFill>
                  <a:srgbClr val="A7B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  ·   </a:t>
            </a:r>
            <a:pPr algn="r" indent="0" marL="0">
              <a:buNone/>
            </a:pPr>
            <a:r>
              <a:rPr lang="en-US" sz="800" b="1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Huit hypothèses conditionnent la stratégie ; H1 et H3 se testent dès la semaine 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828800"/>
                <a:gridCol w="128016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Hypothèse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Preuve actuelle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Seuil d'invalidation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H1. ≥ 10 % des boutiques dépassent 10k visiteurs/mois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Aucune (P0)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Échantillon de 500 boutiques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5 %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Sem.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H2. L'ICP dépense ≥ 1 500 $/an en outils CRO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Aucune (P0)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interviews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Médiane &lt; 600 $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Sem. 1–4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H3. La répartition 31 / 16 / 5 est correcte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secondaire (P1)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Lire le 10-K Shopify FY2025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Écart &gt; 5 pts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Sem.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H4. L'Europe FR apprend plus vite que l'Amérique du Nord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Raisonnement (P0)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Taux de réponse FR vs EN (60 + 60)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≥ FR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Sem. 2–3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H5. L'audit gratuit plafonné qualifie les prospects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Aucune (P0)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 audit → pilote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20 %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Sem. 4–8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H6. Le build in public génère des demandes entrantes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 Tally (autre marché)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Demandes entrantes attribuées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après 6 semaines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Sem. 4–10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H7. Les marchands paient ~190 €/mois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Aucune (P0)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 post-pilote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3 pilotes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Sem. 9–12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H8. Les agences sont un levier, pas une menace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Aucune (P0)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agences approchées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3 avec « menace 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E1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Sem. 6–8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Niveaux de preuve : P0 intuition · P1 desk · P2 déclaratif · P3 comportemental · P4 monétaire (GTM_STRATEGY §0).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2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sources sont publiques, plusieurs secondaires : à vérifier avant usage externe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Boutiques Shopify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Leads, « Shopify stores by country », données au 03/07/2026 (2 865 709 boutiques live ; US 1 088 283 ; UK 197 736 ; CA 121 955 ; AU 119 745 ; IN 114 995), relayé par storeinspect.com et ecomm.design (2026).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BuiltWith, Shopify usage statistics, février 2026 (6,9 M de sites avec du code Shopify, y compris inactifs) : non retenu pour le calcul.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44 / 31 / 16 / 5 / 5 (US / EMEA / APAC / CA / LatAm) attribuée au 10-K Shopify FY2025 par 3plinsider.com : à vérifier dans le 10-K.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top-down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Markets, A/B Testing Software Market (2025 : 1,30 Md$ ; 2032 : 2,73 Md$). Spherical Insights (2025 : 1,48 Md$ ; 2035 : 4,26 Md$). Business Research Insights (2025 : 0,85 Md$). Credence Research (2024 : 8,18 Md$).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blog.tally.so : « From 2 to $3M ARR: How We Bootstrapped Tally With a Tiny Team » ; « How we grew Tally to $4M ARR, fully bootstrapped ». okara.ai (6 M$ ARR, 2,5 M utilisateurs, sept. 2026). profitablefounder.xyz (5 M$ ARR en 2025, ~2 % de conversion, badge comme boucle principale).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b="1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internes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0E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docs/SOLEN_CONTEXT.md ; docs/GTM_STRATEGY.md (29/09/2026).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documentaire réalisée le 29/09/2026 ; les rapports de marché n'ont pas été achetés (chiffres tirés des pages de présentation).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Solen — Marché &amp; go-to-market</dc:title>
  <dc:subject>PptxGenJS Presentation</dc:subject>
  <dc:creator>Solen</dc:creator>
  <cp:lastModifiedBy>Solen</cp:lastModifiedBy>
  <cp:revision>1</cp:revision>
  <dcterms:created xsi:type="dcterms:W3CDTF">2026-09-29T14:19:48Z</dcterms:created>
  <dcterms:modified xsi:type="dcterms:W3CDTF">2026-09-29T14:19:48Z</dcterms:modified>
</cp:coreProperties>
</file>